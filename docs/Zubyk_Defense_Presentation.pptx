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4A3B8"/>
                </a:solidFill>
                <a:latin typeface="Arial"/>
              </a:rPr>
              <a:t>Recall (%) by Testing Scenario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 light</c:v>
                  </c:pt>
                  <c:pt idx="1">
                    <c:v>Side angle ±15°</c:v>
                  </c:pt>
                  <c:pt idx="2">
                    <c:v>Partial occlusion</c:v>
                  </c:pt>
                  <c:pt idx="3">
                    <c:v>Mask</c:v>
                  </c:pt>
                  <c:pt idx="4">
                    <c:v>Low light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92</c:v>
                </c:pt>
                <c:pt idx="2">
                  <c:v>78.6</c:v>
                </c:pt>
                <c:pt idx="3">
                  <c:v>83.3</c:v>
                </c:pt>
                <c:pt idx="4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0F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17320"/>
            <a:ext cx="20116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 for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 Attendance Tracking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Computer Vision Technologies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910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· 122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Dmytro Zubyk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Assist. Petro Lyashchynskyi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9144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0D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22000" dirty="0"/>
          </a:p>
        </p:txBody>
      </p:sp>
      <p:sp>
        <p:nvSpPr>
          <p:cNvPr id="10" name="Shape 8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7091A"/>
          </a:solidFill>
          <a:ln w="12700">
            <a:solidFill>
              <a:srgbClr val="0709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Lviv Polytechnic National University  ·  Department of Automated Control Systems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86384"/>
            <a:ext cx="5029200" cy="356616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87782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316736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roll call in groups of 25–30 students takes 5–15 minutes per lecture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journals are prone to loss and manipulation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QR code systems require special hardware or are easily spoofed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contactless, hardware-free automated solution for universities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786384"/>
            <a:ext cx="3154680" cy="1078992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84124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23560" y="14447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lecture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manual roll call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2020824"/>
            <a:ext cx="3154680" cy="1078992"/>
          </a:xfrm>
          <a:prstGeom prst="rect">
            <a:avLst/>
          </a:prstGeom>
          <a:solidFill>
            <a:srgbClr val="141C33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207568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623560" y="26791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hardware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needed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3255264"/>
            <a:ext cx="3154680" cy="1078992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23560" y="33101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623560" y="3913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LFW benchmark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Parameters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8412480" cy="105156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54864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896112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8961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20700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tracking processes in higher education institutions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8412480" cy="105156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93392"/>
            <a:ext cx="54864" cy="10515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084832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0848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239572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for automating attendance using face recognition and client-server architecture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8412480" cy="105156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82112"/>
            <a:ext cx="54864" cy="10515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73552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73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" y="358444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practical, contactless, automated attendance system suitable for real university environments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Objectives: Analyse existing approaches · Review CV methods · Design microservices architecture · Implement &amp; test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Existing Approaches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86384"/>
          <a:ext cx="8412480" cy="4114800"/>
        </p:xfrm>
        <a:graphic>
          <a:graphicData uri="http://schemas.openxmlformats.org/drawingml/2006/table">
            <a:tbl>
              <a:tblPr/>
              <a:tblGrid>
                <a:gridCol w="2194560"/>
                <a:gridCol w="1234440"/>
                <a:gridCol w="1051560"/>
                <a:gridCol w="1051560"/>
                <a:gridCol w="1417320"/>
                <a:gridCol w="146304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Anti-spoofing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HW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/ NFC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Recognition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Software Analysis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8412480" cy="73152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868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Classter / Moodle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2070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+ Attendance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97480" y="8961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Rich feature set, university-grade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0" y="8961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face recognition, manual input, high licence cost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627632"/>
            <a:ext cx="8412480" cy="73152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RecFaces / Face++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029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Face Recognition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97480" y="171907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State-of-the-art accuracy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0" y="171907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GPU servers required, SaaS only, GDPR concerns, very expensive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50592"/>
            <a:ext cx="8412480" cy="73152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Eigenfaces-based solutions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28529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97480" y="25420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GPU needed, open source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60720" y="25420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F1 = 74–84% — insufficient for real-world use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273552"/>
            <a:ext cx="8412480" cy="73152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/ FaceNet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6758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library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97480" y="33649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Recall 97.3% — highest accuracy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60720" y="33649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8–12 s model load, GPU dependency, no full-stack solution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8412480" cy="731520"/>
          </a:xfrm>
          <a:prstGeom prst="rect">
            <a:avLst/>
          </a:prstGeom>
          <a:solidFill>
            <a:srgbClr val="09213A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 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44988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97480" y="41879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Precision 100%, Recall 96%, FPR 0%, no GPU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60720" y="41879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Recall 75–83% in poor lighting (manual override available)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86384"/>
            <a:ext cx="1691640" cy="4114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86384"/>
            <a:ext cx="1691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68680"/>
            <a:ext cx="1545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335024"/>
            <a:ext cx="1472184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26464"/>
            <a:ext cx="1508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(TypeScript)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12848" y="786384"/>
            <a:ext cx="1691640" cy="4114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12848" y="786384"/>
            <a:ext cx="169164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868680"/>
            <a:ext cx="1545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Microservice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22576" y="1335024"/>
            <a:ext cx="1472184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426464"/>
            <a:ext cx="1508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/ face_recognition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ResNet-34 (128-dim)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59936" y="786384"/>
            <a:ext cx="1691640" cy="4114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59936" y="786384"/>
            <a:ext cx="169164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868680"/>
            <a:ext cx="1545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9664" y="1335024"/>
            <a:ext cx="1472184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1426464"/>
            <a:ext cx="1508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07024" y="786384"/>
            <a:ext cx="1371600" cy="4114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07024" y="786384"/>
            <a:ext cx="137160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0176" y="868680"/>
            <a:ext cx="1225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16752" y="1335024"/>
            <a:ext cx="1152144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98464" y="1426464"/>
            <a:ext cx="1188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Expo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Camera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24928" y="786384"/>
            <a:ext cx="1371600" cy="4114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24928" y="786384"/>
            <a:ext cx="137160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868680"/>
            <a:ext cx="12252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34656" y="1335024"/>
            <a:ext cx="1152144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368" y="1426464"/>
            <a:ext cx="1188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(C4 — Container Level)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585216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188720"/>
            <a:ext cx="777240" cy="777240"/>
          </a:xfrm>
          <a:prstGeom prst="ellipse">
            <a:avLst/>
          </a:prstGeom>
          <a:solidFill>
            <a:srgbClr val="141C33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" y="1188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" y="202996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Admin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" y="3200400"/>
            <a:ext cx="777240" cy="777240"/>
          </a:xfrm>
          <a:prstGeom prst="ellipse">
            <a:avLst/>
          </a:prstGeom>
          <a:solidFill>
            <a:srgbClr val="141C33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3200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" y="404164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786384"/>
            <a:ext cx="1920240" cy="96012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88720" y="786384"/>
            <a:ext cx="192024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8961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88720" y="14081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/ React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88720" y="2011680"/>
            <a:ext cx="1920240" cy="96012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88720" y="2011680"/>
            <a:ext cx="19202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21214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88720" y="26334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/ TypeScript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1280160"/>
            <a:ext cx="2103120" cy="1097280"/>
          </a:xfrm>
          <a:prstGeom prst="rect">
            <a:avLst/>
          </a:prstGeom>
          <a:solidFill>
            <a:srgbClr val="141C33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280160"/>
            <a:ext cx="21031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3898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49040" y="19019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JWT · Prisma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1280160"/>
            <a:ext cx="2286000" cy="109728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1280160"/>
            <a:ext cx="2286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3898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83680" y="1901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· face_recognition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49040" y="3154680"/>
            <a:ext cx="2103120" cy="9144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49040" y="3154680"/>
            <a:ext cx="21031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2644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749040" y="37764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6968" y="1572768"/>
            <a:ext cx="301752" cy="9144"/>
          </a:xfrm>
          <a:prstGeom prst="line">
            <a:avLst/>
          </a:prstGeom>
          <a:noFill/>
          <a:ln w="15240">
            <a:solidFill>
              <a:srgbClr val="00D4FF">
                <a:alpha val="60000"/>
              </a:srgbClr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>
            <a:off x="886968" y="1572768"/>
            <a:ext cx="301752" cy="914400"/>
          </a:xfrm>
          <a:prstGeom prst="line">
            <a:avLst/>
          </a:prstGeom>
          <a:noFill/>
          <a:ln w="15240">
            <a:solidFill>
              <a:srgbClr val="00D4FF">
                <a:alpha val="60000"/>
              </a:srgbClr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886968" y="2496312"/>
            <a:ext cx="301752" cy="1097280"/>
          </a:xfrm>
          <a:prstGeom prst="line">
            <a:avLst/>
          </a:prstGeom>
          <a:noFill/>
          <a:ln w="15240">
            <a:solidFill>
              <a:srgbClr val="818CF8">
                <a:alpha val="70000"/>
              </a:srgbClr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>
            <a:off x="3108960" y="1261872"/>
            <a:ext cx="640080" cy="566928"/>
          </a:xfrm>
          <a:prstGeom prst="line">
            <a:avLst/>
          </a:prstGeom>
          <a:noFill/>
          <a:ln w="15240">
            <a:solidFill>
              <a:srgbClr val="00D4FF">
                <a:alpha val="60000"/>
              </a:srgbClr>
            </a:solidFill>
            <a:prstDash val="sysDash"/>
          </a:ln>
        </p:spPr>
      </p:sp>
      <p:sp>
        <p:nvSpPr>
          <p:cNvPr id="36" name="Shape 34"/>
          <p:cNvSpPr/>
          <p:nvPr/>
        </p:nvSpPr>
        <p:spPr>
          <a:xfrm>
            <a:off x="3108960" y="1828800"/>
            <a:ext cx="640080" cy="667512"/>
          </a:xfrm>
          <a:prstGeom prst="line">
            <a:avLst/>
          </a:prstGeom>
          <a:noFill/>
          <a:ln w="15240">
            <a:solidFill>
              <a:srgbClr val="00D4FF">
                <a:alpha val="60000"/>
              </a:srgbClr>
            </a:solidFill>
            <a:prstDash val="sysDash"/>
          </a:ln>
        </p:spPr>
      </p:sp>
      <p:sp>
        <p:nvSpPr>
          <p:cNvPr id="37" name="Shape 35"/>
          <p:cNvSpPr/>
          <p:nvPr/>
        </p:nvSpPr>
        <p:spPr>
          <a:xfrm>
            <a:off x="5852160" y="1828800"/>
            <a:ext cx="731520" cy="9144"/>
          </a:xfrm>
          <a:prstGeom prst="line">
            <a:avLst/>
          </a:prstGeom>
          <a:noFill/>
          <a:ln w="15240">
            <a:solidFill>
              <a:srgbClr val="00D4FF">
                <a:alpha val="60000"/>
              </a:srgbClr>
            </a:solidFill>
            <a:prstDash val="sysDash"/>
          </a:ln>
        </p:spPr>
      </p:sp>
      <p:sp>
        <p:nvSpPr>
          <p:cNvPr id="38" name="Shape 36"/>
          <p:cNvSpPr/>
          <p:nvPr/>
        </p:nvSpPr>
        <p:spPr>
          <a:xfrm>
            <a:off x="4800600" y="2377440"/>
            <a:ext cx="9144" cy="777240"/>
          </a:xfrm>
          <a:prstGeom prst="line">
            <a:avLst/>
          </a:prstGeom>
          <a:noFill/>
          <a:ln w="15240">
            <a:solidFill>
              <a:srgbClr val="00D4FF">
                <a:alpha val="60000"/>
              </a:srgbClr>
            </a:solidFill>
            <a:prstDash val="sysDash"/>
          </a:ln>
        </p:spPr>
      </p:sp>
      <p:sp>
        <p:nvSpPr>
          <p:cNvPr id="39" name="Text 37"/>
          <p:cNvSpPr/>
          <p:nvPr/>
        </p:nvSpPr>
        <p:spPr>
          <a:xfrm>
            <a:off x="1234440" y="2971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 between all services  ·  Docker Compose deployment  ·  pnpm monorepo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4952" y="1298448"/>
            <a:ext cx="164592" cy="9144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52744" y="1298448"/>
            <a:ext cx="164592" cy="9144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44952" y="3310128"/>
            <a:ext cx="164592" cy="9144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52744" y="3310128"/>
            <a:ext cx="164592" cy="9144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768096"/>
            <a:ext cx="2724912" cy="1828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877824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8961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" y="1408176"/>
            <a:ext cx="2505456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499616"/>
            <a:ext cx="25054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captured via mobile camera or web upload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768096"/>
            <a:ext cx="2724912" cy="1828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87782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59352" y="8961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83280" y="1408176"/>
            <a:ext cx="2505456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499616"/>
            <a:ext cx="25054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256×256, normalise pixel values, histogram equalisation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81344" y="768096"/>
            <a:ext cx="2724912" cy="1828800"/>
          </a:xfrm>
          <a:prstGeom prst="rect">
            <a:avLst/>
          </a:prstGeom>
          <a:solidFill>
            <a:srgbClr val="141C33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91072" y="877824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67144" y="8961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Detection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91072" y="1408176"/>
            <a:ext cx="2505456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499616"/>
            <a:ext cx="25054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Oriented Gradients locates face bounding boxes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816352"/>
            <a:ext cx="2724912" cy="1828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" y="292608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51560" y="294436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ResNet-34 Encoding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" y="3456432"/>
            <a:ext cx="2505456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547872"/>
            <a:ext cx="25054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ResNet-34 maps each face to 128-dimensional vector embedding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73552" y="2816352"/>
            <a:ext cx="2724912" cy="1828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83280" y="292608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959352" y="294436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Matching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383280" y="3456432"/>
            <a:ext cx="2505456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3547872"/>
            <a:ext cx="25054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stored profiles; distance d &lt; 0.6 → student identified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81344" y="2816352"/>
            <a:ext cx="2724912" cy="1828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91072" y="292608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67144" y="294436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291072" y="3456432"/>
            <a:ext cx="2505456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3547872"/>
            <a:ext cx="25054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students logged to PostgreSQL; unmatched flagged for manual review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(ER Overview)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2651760" cy="1719072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265176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778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1261872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(ADMIN/TEACHER)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2651760" cy="1719072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34640"/>
            <a:ext cx="26517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07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" y="3291840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firstName, lastName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groupId (FK)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faceEncoding (JSON)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804672"/>
            <a:ext cx="2651760" cy="1408176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04672"/>
            <a:ext cx="265176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8778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AcademicGroup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4136" y="1261872"/>
            <a:ext cx="239572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2834640"/>
            <a:ext cx="2651760" cy="1719072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2834640"/>
            <a:ext cx="265176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907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4136" y="3291840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groupId (FK)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teacherId (FK)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datetime, room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810512"/>
            <a:ext cx="2651760" cy="1719072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810512"/>
            <a:ext cx="265176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883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AttendanceRecord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4496" y="2267712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scheduleId (FK)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(FK)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timestamp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with Prisma ORM  ·  Migrations versioned in Git  ·  All FK constraints enforced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 — Web Interface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86384"/>
            <a:ext cx="2743200" cy="1938528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77824"/>
            <a:ext cx="2560320" cy="1188720"/>
          </a:xfrm>
          <a:prstGeom prst="rect">
            <a:avLst/>
          </a:prstGeom>
          <a:solidFill>
            <a:srgbClr val="07111F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7782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JWT-based, role detection (Admin / Teacher)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786384"/>
            <a:ext cx="2743200" cy="1938528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877824"/>
            <a:ext cx="2560320" cy="1188720"/>
          </a:xfrm>
          <a:prstGeom prst="rect">
            <a:avLst/>
          </a:prstGeom>
          <a:solidFill>
            <a:srgbClr val="07111F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87782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1568" y="2121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View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selects a class to start attendance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54496" y="786384"/>
            <a:ext cx="2743200" cy="1938528"/>
          </a:xfrm>
          <a:prstGeom prst="rect">
            <a:avLst/>
          </a:prstGeom>
          <a:solidFill>
            <a:srgbClr val="141C33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45936" y="877824"/>
            <a:ext cx="2560320" cy="1188720"/>
          </a:xfrm>
          <a:prstGeom prst="rect">
            <a:avLst/>
          </a:prstGeom>
          <a:solidFill>
            <a:srgbClr val="07111F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87782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45936" y="2121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Capture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45936" y="2395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 → AI detects &amp; identifies faces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889504"/>
            <a:ext cx="2743200" cy="1938528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80944"/>
            <a:ext cx="2560320" cy="1188720"/>
          </a:xfrm>
          <a:prstGeom prst="rect">
            <a:avLst/>
          </a:prstGeom>
          <a:solidFill>
            <a:srgbClr val="07111F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8094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Report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498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stats, export, manual correction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0128" y="2889504"/>
            <a:ext cx="2743200" cy="1938528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01568" y="2980944"/>
            <a:ext cx="2560320" cy="1188720"/>
          </a:xfrm>
          <a:prstGeom prst="rect">
            <a:avLst/>
          </a:prstGeom>
          <a:solidFill>
            <a:srgbClr val="07111F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298094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01568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01568" y="4498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uploads 3–5 reference photos per student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4496" y="2889504"/>
            <a:ext cx="2743200" cy="1938528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45936" y="2980944"/>
            <a:ext cx="2560320" cy="1188720"/>
          </a:xfrm>
          <a:prstGeom prst="rect">
            <a:avLst/>
          </a:prstGeom>
          <a:solidFill>
            <a:srgbClr val="07111F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298094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45936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Management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45936" y="4498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groups, assign teachers to schedules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 — Mobile Application (React Native / Expo)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68096"/>
            <a:ext cx="2011680" cy="4133088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877824"/>
            <a:ext cx="1792224" cy="2926080"/>
          </a:xfrm>
          <a:prstGeom prst="rect">
            <a:avLst/>
          </a:prstGeom>
          <a:solidFill>
            <a:srgbClr val="07111F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877824"/>
            <a:ext cx="179222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" y="38587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Screen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4151376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views daily timetable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78608" y="768096"/>
            <a:ext cx="2011680" cy="4133088"/>
          </a:xfrm>
          <a:prstGeom prst="rect">
            <a:avLst/>
          </a:prstGeom>
          <a:solidFill>
            <a:srgbClr val="141C33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88336" y="877824"/>
            <a:ext cx="1792224" cy="2926080"/>
          </a:xfrm>
          <a:prstGeom prst="rect">
            <a:avLst/>
          </a:prstGeom>
          <a:solidFill>
            <a:srgbClr val="07111F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877824"/>
            <a:ext cx="179222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33472" y="38587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33472" y="4151376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classroom photo capture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91456" y="768096"/>
            <a:ext cx="2011680" cy="4133088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01184" y="877824"/>
            <a:ext cx="1792224" cy="2926080"/>
          </a:xfrm>
          <a:prstGeom prst="rect">
            <a:avLst/>
          </a:prstGeom>
          <a:solidFill>
            <a:srgbClr val="07111F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877824"/>
            <a:ext cx="179222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38587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Screen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151376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vs unrecognised students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04304" y="768096"/>
            <a:ext cx="2011680" cy="4133088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14032" y="877824"/>
            <a:ext cx="1792224" cy="2926080"/>
          </a:xfrm>
          <a:prstGeom prst="rect">
            <a:avLst/>
          </a:prstGeom>
          <a:solidFill>
            <a:srgbClr val="07111F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877824"/>
            <a:ext cx="179222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59168" y="38587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59168" y="4151376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views own attendance stats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iOS &amp; Android  ·  Expo Go compatible  ·  Camera via Expo Camera API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Recognition Accuracy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86384"/>
            <a:ext cx="2029968" cy="123444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04672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conditions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786384"/>
            <a:ext cx="2029968" cy="1234440"/>
          </a:xfrm>
          <a:prstGeom prst="rect">
            <a:avLst/>
          </a:prstGeom>
          <a:solidFill>
            <a:srgbClr val="141C33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804672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463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conditions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786384"/>
            <a:ext cx="2029968" cy="123444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804672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conditions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786384"/>
            <a:ext cx="2029968" cy="123444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804672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49440" y="1463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1737360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65760" y="2176272"/>
          <a:ext cx="841248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Performance &amp; Unit Tests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86384"/>
            <a:ext cx="4114800" cy="914400"/>
          </a:xfrm>
          <a:prstGeom prst="rect">
            <a:avLst/>
          </a:prstGeom>
          <a:solidFill>
            <a:srgbClr val="141C33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86384"/>
            <a:ext cx="54864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8412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3.42 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1316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p95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52928" y="106070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≤ 5 s   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786384"/>
            <a:ext cx="4114800" cy="9144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86384"/>
            <a:ext cx="54864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8412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ms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64608" y="1316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endpoint p95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50608" y="106070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≤ 2000 ms  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865376"/>
            <a:ext cx="4114800" cy="9144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865376"/>
            <a:ext cx="54864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6928" y="23957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 (load test)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52928" y="213969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0%   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865376"/>
            <a:ext cx="4114800" cy="9144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865376"/>
            <a:ext cx="54864" cy="9144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864608" y="23957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tested in Postman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0608" y="213969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   ✓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07792"/>
          <a:ext cx="8412480" cy="1920240"/>
        </p:xfrm>
        <a:graphic>
          <a:graphicData uri="http://schemas.openxmlformats.org/drawingml/2006/table">
            <a:tbl>
              <a:tblPr/>
              <a:tblGrid>
                <a:gridCol w="3474720"/>
                <a:gridCol w="1645920"/>
                <a:gridCol w="18288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Scalability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86384"/>
            <a:ext cx="4114800" cy="1828800"/>
          </a:xfrm>
          <a:prstGeom prst="rect">
            <a:avLst/>
          </a:prstGeom>
          <a:solidFill>
            <a:srgbClr val="141C33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34640" y="877824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502920" y="950976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50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96926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Low-Light Detection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1499616"/>
            <a:ext cx="3858768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09344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HOG with MTCNN / RetinaFace to raise Recall from 75% to 90%+ under poor lighting.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1828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292608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15" name="Shape 13"/>
          <p:cNvSpPr/>
          <p:nvPr/>
        </p:nvSpPr>
        <p:spPr>
          <a:xfrm>
            <a:off x="502920" y="2999232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017520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AI Scaling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3547872"/>
            <a:ext cx="3858768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57600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service replicas behind a load balancer for 500+ concurrent users.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786384"/>
            <a:ext cx="4114800" cy="1828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877824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22" name="Shape 20"/>
          <p:cNvSpPr/>
          <p:nvPr/>
        </p:nvSpPr>
        <p:spPr>
          <a:xfrm>
            <a:off x="4800600" y="950976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950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969264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800600" y="1499616"/>
            <a:ext cx="3858768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609344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Moodle / Blackboard via API to sync attendance with existing grade-books.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2834640"/>
            <a:ext cx="4114800" cy="1828800"/>
          </a:xfrm>
          <a:prstGeom prst="rect">
            <a:avLst/>
          </a:prstGeom>
          <a:solidFill>
            <a:srgbClr val="141C33"/>
          </a:solidFill>
          <a:ln w="8890">
            <a:solidFill>
              <a:srgbClr val="1E2D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32320" y="2926080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1E2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29" name="Shape 27"/>
          <p:cNvSpPr/>
          <p:nvPr/>
        </p:nvSpPr>
        <p:spPr>
          <a:xfrm>
            <a:off x="4800600" y="2999232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3017520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800600" y="3547872"/>
            <a:ext cx="3858768" cy="18288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657600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to reject photo / video attacks; step toward GDPR production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12E81">
              <a:alpha val="25000"/>
            </a:srgbClr>
          </a:solidFill>
          <a:ln w="12700">
            <a:solidFill>
              <a:srgbClr val="312E8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C4A6E">
              <a:alpha val="25000"/>
            </a:srgbClr>
          </a:solidFill>
          <a:ln w="12700">
            <a:solidFill>
              <a:srgbClr val="0C4A6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182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41248"/>
            <a:ext cx="36576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68096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existing approaches — face recognition provides best accuracy / cost / usability balance vs RFID, QR, fingerprint.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517904"/>
            <a:ext cx="36576" cy="4754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447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microservices: NestJS REST API · Next.js web · FastAPI AI service · React Native mobile app.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36576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2140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Precision 100%, Recall 96.0%, F1 97.9% and False Positive Rate 0% across all test scenarios.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36576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98064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image p95 = 3.42 s (req. ≤ 5 s); CRUD p95 = 98 ms; stable at 50 concurrent users with 0% error rate.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36576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7472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impact: attendance time reduced from 5–15 min to 1–1.5 min per class; no special hardware required.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224528"/>
            <a:ext cx="36576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51376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functional requirements (FR1–FR8) fully implemented; deployed via a single Docker Compose command.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 for Automated Student Attendance Tracking Using Computer Vision</dc:title>
  <dc:subject>PptxGenJS Presentation</dc:subject>
  <dc:creator>Dmytro Zubyk</dc:creator>
  <cp:lastModifiedBy>Dmytro Zubyk</cp:lastModifiedBy>
  <cp:revision>1</cp:revision>
  <dcterms:created xsi:type="dcterms:W3CDTF">2026-06-09T20:51:37Z</dcterms:created>
  <dcterms:modified xsi:type="dcterms:W3CDTF">2026-06-09T20:51:37Z</dcterms:modified>
</cp:coreProperties>
</file>